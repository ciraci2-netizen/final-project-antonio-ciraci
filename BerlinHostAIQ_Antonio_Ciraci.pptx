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0A1628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0A1525"/>
          </a:solidFill>
          <a:ln cap="flat" cmpd="sng" w="12700">
            <a:solidFill>
              <a:srgbClr val="0A1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D1D35"/>
          </a:solidFill>
          <a:ln cap="flat" cmpd="sng" w="12700">
            <a:solidFill>
              <a:srgbClr val="0D1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806440" y="0"/>
            <a:ext cx="13716" cy="5143500"/>
          </a:xfrm>
          <a:prstGeom prst="rect">
            <a:avLst/>
          </a:prstGeom>
          <a:solidFill>
            <a:srgbClr val="00D4FF">
              <a:alpha val="12156"/>
            </a:srgbClr>
          </a:solidFill>
          <a:ln cap="flat" cmpd="sng" w="12700">
            <a:solidFill>
              <a:srgbClr val="00D4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062472" y="0"/>
            <a:ext cx="13716" cy="5143500"/>
          </a:xfrm>
          <a:prstGeom prst="rect">
            <a:avLst/>
          </a:prstGeom>
          <a:solidFill>
            <a:srgbClr val="00D4FF">
              <a:alpha val="16862"/>
            </a:srgbClr>
          </a:solidFill>
          <a:ln cap="flat" cmpd="sng" w="12700">
            <a:solidFill>
              <a:srgbClr val="00D4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318504" y="0"/>
            <a:ext cx="13716" cy="5143500"/>
          </a:xfrm>
          <a:prstGeom prst="rect">
            <a:avLst/>
          </a:pr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574536" y="0"/>
            <a:ext cx="13716" cy="5143500"/>
          </a:xfrm>
          <a:prstGeom prst="rect">
            <a:avLst/>
          </a:prstGeom>
          <a:solidFill>
            <a:srgbClr val="00D4FF">
              <a:alpha val="27058"/>
            </a:srgbClr>
          </a:solidFill>
          <a:ln cap="flat" cmpd="sng" w="12700">
            <a:solidFill>
              <a:srgbClr val="00D4FF">
                <a:alpha val="2705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830568" y="0"/>
            <a:ext cx="13716" cy="5143500"/>
          </a:xfrm>
          <a:prstGeom prst="rect">
            <a:avLst/>
          </a:prstGeom>
          <a:solidFill>
            <a:srgbClr val="00D4FF">
              <a:alpha val="32156"/>
            </a:srgbClr>
          </a:solidFill>
          <a:ln cap="flat" cmpd="sng" w="12700">
            <a:solidFill>
              <a:srgbClr val="00D4FF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086600" y="0"/>
            <a:ext cx="13716" cy="5143500"/>
          </a:xfrm>
          <a:prstGeom prst="rect">
            <a:avLst/>
          </a:prstGeom>
          <a:solidFill>
            <a:srgbClr val="00D4FF">
              <a:alpha val="36862"/>
            </a:srgbClr>
          </a:solidFill>
          <a:ln cap="flat" cmpd="sng" w="12700">
            <a:solidFill>
              <a:srgbClr val="00D4FF">
                <a:alpha val="3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126480" y="2743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419088" y="2743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711696" y="2743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004304" y="2743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7296912" y="2743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7589520" y="2743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7882128" y="2743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174736" y="2743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126480" y="566928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419088" y="566928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711696" y="566928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7004304" y="566928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7296912" y="566928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7589520" y="566928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7882128" y="566928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8174736" y="566928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126480" y="859536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419088" y="859536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711696" y="859536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004304" y="859536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7296912" y="859536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7589520" y="859536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882128" y="859536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174736" y="859536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6126480" y="115214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419088" y="115214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711696" y="115214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004304" y="115214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296912" y="115214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7589520" y="115214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882128" y="115214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174736" y="115214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126480" y="144475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419088" y="144475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711696" y="144475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004304" y="144475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296912" y="144475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589520" y="144475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882128" y="144475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174736" y="144475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126480" y="173736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419088" y="173736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711696" y="173736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004304" y="173736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296912" y="173736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589520" y="173736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882128" y="173736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174736" y="173736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7843"/>
            </a:srgbClr>
          </a:solidFill>
          <a:ln cap="flat" cmpd="sng" w="12700">
            <a:solidFill>
              <a:srgbClr val="00D4F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84048" y="457200"/>
            <a:ext cx="5486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Berlin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84048" y="1353312"/>
            <a:ext cx="5486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84048" y="2249424"/>
            <a:ext cx="3657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200"/>
              <a:buFont typeface="Calibri"/>
              <a:buNone/>
            </a:pPr>
            <a:r>
              <a:rPr b="1" i="0" lang="en-US" sz="6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AIQ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84048" y="3310128"/>
            <a:ext cx="3474720" cy="2743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84048" y="342900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AI-Powered Competitive Intelligence for Airbnb Hosts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84048" y="3950208"/>
            <a:ext cx="1664208" cy="749808"/>
          </a:xfrm>
          <a:prstGeom prst="rect">
            <a:avLst/>
          </a:prstGeom>
          <a:solidFill>
            <a:srgbClr val="0D1D35"/>
          </a:solidFill>
          <a:ln cap="flat" cmpd="sng" w="12700">
            <a:solidFill>
              <a:srgbClr val="00D4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84048" y="3986784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14,000+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84048" y="4352544"/>
            <a:ext cx="16642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Berlin hosts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2258568" y="3950208"/>
            <a:ext cx="1664208" cy="749808"/>
          </a:xfrm>
          <a:prstGeom prst="rect">
            <a:avLst/>
          </a:prstGeom>
          <a:solidFill>
            <a:srgbClr val="0D1D35"/>
          </a:solidFill>
          <a:ln cap="flat" cmpd="sng" w="12700">
            <a:solidFill>
              <a:srgbClr val="00D4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258568" y="3986784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€876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258568" y="4352544"/>
            <a:ext cx="16642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annual uplift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133088" y="3950208"/>
            <a:ext cx="1664208" cy="749808"/>
          </a:xfrm>
          <a:prstGeom prst="rect">
            <a:avLst/>
          </a:prstGeom>
          <a:solidFill>
            <a:srgbClr val="0D1D35"/>
          </a:solidFill>
          <a:ln cap="flat" cmpd="sng" w="12700">
            <a:solidFill>
              <a:srgbClr val="00D4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133088" y="3986784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60s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133088" y="4352544"/>
            <a:ext cx="16642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time to insight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84048" y="48006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A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A3A5A"/>
                </a:solidFill>
                <a:latin typeface="Calibri"/>
                <a:ea typeface="Calibri"/>
                <a:cs typeface="Calibri"/>
                <a:sym typeface="Calibri"/>
              </a:rPr>
              <a:t>Antonio Ciraci  ·  AI Bootcamp Final Project  ·  March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0" y="5121500"/>
            <a:ext cx="9144000" cy="2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0" y="5121500"/>
            <a:ext cx="762000" cy="2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4" title="emma_fixed.png"/>
          <p:cNvPicPr preferRelativeResize="0"/>
          <p:nvPr/>
        </p:nvPicPr>
        <p:blipFill rotWithShape="1">
          <a:blip r:embed="rId3">
            <a:alphaModFix/>
          </a:blip>
          <a:srcRect b="0" l="31573" r="31573" t="0"/>
          <a:stretch/>
        </p:blipFill>
        <p:spPr>
          <a:xfrm>
            <a:off x="0" y="50292"/>
            <a:ext cx="2650001" cy="50932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7132320" y="34747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424928" y="34747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717536" y="34747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010144" y="34747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302752" y="34747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595360" y="34747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132320" y="3767328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424928" y="3767328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717536" y="3767328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010144" y="3767328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8302752" y="3767328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595360" y="3767328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132320" y="4059936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7424928" y="4059936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717536" y="4059936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010144" y="4059936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302752" y="4059936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595360" y="4059936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132320" y="435254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7424928" y="435254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7717536" y="435254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8010144" y="435254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8302752" y="435254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595360" y="435254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132320" y="464515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424928" y="464515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717536" y="464515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010144" y="464515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8302752" y="464515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8595360" y="464515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750000" y="320040"/>
            <a:ext cx="63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Meet Emma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750000" y="1097280"/>
            <a:ext cx="63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Independent Airbnb host · Prenzlauer Berg, Berlin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750000" y="1554480"/>
            <a:ext cx="6344000" cy="27432"/>
          </a:xfrm>
          <a:prstGeom prst="rect">
            <a:avLst/>
          </a:prstGeom>
          <a:solidFill>
            <a:srgbClr val="1A3A6E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750000" y="1737360"/>
            <a:ext cx="3072000" cy="1261872"/>
          </a:xfrm>
          <a:prstGeom prst="rect">
            <a:avLst/>
          </a:prstGeom>
          <a:solidFill>
            <a:srgbClr val="0D1F42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750000" y="1737360"/>
            <a:ext cx="54864" cy="1261872"/>
          </a:xfrm>
          <a:prstGeom prst="rect">
            <a:avLst/>
          </a:prstGeom>
          <a:solidFill>
            <a:srgbClr val="00D4FF">
              <a:alpha val="60000"/>
            </a:srgbClr>
          </a:solidFill>
          <a:ln cap="flat" cmpd="sng" w="12700">
            <a:solidFill>
              <a:srgbClr val="00D4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887160" y="1847088"/>
            <a:ext cx="2800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🕐  3 hrs/month wasted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887160" y="2240280"/>
            <a:ext cx="2800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Manually browsing competitor listings — zero data, all guesswork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900000" y="1737360"/>
            <a:ext cx="3194000" cy="1261872"/>
          </a:xfrm>
          <a:prstGeom prst="rect">
            <a:avLst/>
          </a:prstGeom>
          <a:solidFill>
            <a:srgbClr val="0D1F42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900000" y="1737360"/>
            <a:ext cx="54864" cy="1261872"/>
          </a:xfrm>
          <a:prstGeom prst="rect">
            <a:avLst/>
          </a:prstGeom>
          <a:solidFill>
            <a:srgbClr val="00D4FF">
              <a:alpha val="60000"/>
            </a:srgbClr>
          </a:solidFill>
          <a:ln cap="flat" cmpd="sng" w="12700">
            <a:solidFill>
              <a:srgbClr val="00D4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037160" y="1847088"/>
            <a:ext cx="2900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📉  Pricing blind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037160" y="2240280"/>
            <a:ext cx="2900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No idea if €85/night is competitive or leaving money on the table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2750000" y="3154680"/>
            <a:ext cx="3072000" cy="1261872"/>
          </a:xfrm>
          <a:prstGeom prst="rect">
            <a:avLst/>
          </a:prstGeom>
          <a:solidFill>
            <a:srgbClr val="0D1F42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750000" y="3154680"/>
            <a:ext cx="54864" cy="1261872"/>
          </a:xfrm>
          <a:prstGeom prst="rect">
            <a:avLst/>
          </a:prstGeom>
          <a:solidFill>
            <a:srgbClr val="00D4FF">
              <a:alpha val="60000"/>
            </a:srgbClr>
          </a:solidFill>
          <a:ln cap="flat" cmpd="sng" w="12700">
            <a:solidFill>
              <a:srgbClr val="00D4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2875010" y="3246121"/>
            <a:ext cx="2799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✍️  Guessing her edge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2887160" y="3657600"/>
            <a:ext cx="2800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Rewrites her description every season — unsure if balcony &amp; garden even matter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900000" y="3154680"/>
            <a:ext cx="3194000" cy="1261872"/>
          </a:xfrm>
          <a:prstGeom prst="rect">
            <a:avLst/>
          </a:prstGeom>
          <a:solidFill>
            <a:srgbClr val="0D1F42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900000" y="3154680"/>
            <a:ext cx="54864" cy="1261872"/>
          </a:xfrm>
          <a:prstGeom prst="rect">
            <a:avLst/>
          </a:prstGeom>
          <a:solidFill>
            <a:srgbClr val="00D4FF">
              <a:alpha val="60000"/>
            </a:srgbClr>
          </a:solidFill>
          <a:ln cap="flat" cmpd="sng" w="12700">
            <a:solidFill>
              <a:srgbClr val="00D4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037160" y="3264408"/>
            <a:ext cx="2900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❓  Invisible ranking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037160" y="3657600"/>
            <a:ext cx="2900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Has no idea if she ranks 3rd or 9th among similar listings at her price point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2750000" y="4645152"/>
            <a:ext cx="6344000" cy="27432"/>
          </a:xfrm>
          <a:prstGeom prst="rect">
            <a:avLst/>
          </a:prstGeom>
          <a:solidFill>
            <a:srgbClr val="1A3A6E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2750000" y="4709160"/>
            <a:ext cx="63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Emma is not the exception — she is the rule.  14,000+ Berlin hosts face the same problem.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0" y="5121500"/>
            <a:ext cx="9144000" cy="2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0" y="5121500"/>
            <a:ext cx="1524000" cy="2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/>
          <p:nvPr/>
        </p:nvSpPr>
        <p:spPr>
          <a:xfrm>
            <a:off x="457200" y="120000"/>
            <a:ext cx="8229600" cy="58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02920" y="164592"/>
            <a:ext cx="82296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Not TripAdvisor or AirDNA?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02920" y="550000"/>
            <a:ext cx="8229600" cy="2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The AI layer is the differentiator — raw data and booking tools don’t tell you what to do 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47472" y="840000"/>
            <a:ext cx="8458200" cy="260000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377472" y="840000"/>
            <a:ext cx="2428200" cy="2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97472" y="840000"/>
            <a:ext cx="198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CAPABILITY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2377472" y="840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TripAdvisor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377472" y="840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AirDNA / PriceLabs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377472" y="868000"/>
            <a:ext cx="2428200" cy="232000"/>
          </a:xfrm>
          <a:prstGeom prst="rect">
            <a:avLst/>
          </a:prstGeom>
          <a:solidFill>
            <a:srgbClr val="00D4FF">
              <a:alpha val="1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377472" y="840000"/>
            <a:ext cx="24282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BerlinHostAIQ 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2357472" y="840000"/>
            <a:ext cx="20000" cy="31000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357472" y="840000"/>
            <a:ext cx="20000" cy="31000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357472" y="840000"/>
            <a:ext cx="20000" cy="310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47472" y="1100000"/>
            <a:ext cx="8458200" cy="560000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377472" y="1100000"/>
            <a:ext cx="2428200" cy="560000"/>
          </a:xfrm>
          <a:prstGeom prst="rect">
            <a:avLst/>
          </a:prstGeom>
          <a:solidFill>
            <a:srgbClr val="00D4FF">
              <a:alpha val="901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97472" y="1100000"/>
            <a:ext cx="196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Host-specific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2377472" y="110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77472" y="110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Partial (raw 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377472" y="1100000"/>
            <a:ext cx="24282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47472" y="1660000"/>
            <a:ext cx="8458200" cy="56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377472" y="1660000"/>
            <a:ext cx="2428200" cy="560000"/>
          </a:xfrm>
          <a:prstGeom prst="rect">
            <a:avLst/>
          </a:prstGeom>
          <a:solidFill>
            <a:srgbClr val="00D4FF">
              <a:alpha val="901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97472" y="1660000"/>
            <a:ext cx="196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AI-generated recommendations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2377472" y="166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377472" y="166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377472" y="1660000"/>
            <a:ext cx="24282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47472" y="2220000"/>
            <a:ext cx="8458200" cy="560000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377472" y="2220000"/>
            <a:ext cx="2428200" cy="560000"/>
          </a:xfrm>
          <a:prstGeom prst="rect">
            <a:avLst/>
          </a:prstGeom>
          <a:solidFill>
            <a:srgbClr val="00D4FF">
              <a:alpha val="901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97472" y="2220000"/>
            <a:ext cx="196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Berlin-specific dataset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2377472" y="222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377472" y="222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377472" y="2220000"/>
            <a:ext cx="24282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347472" y="2780000"/>
            <a:ext cx="8458200" cy="56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377472" y="2780000"/>
            <a:ext cx="2428200" cy="560000"/>
          </a:xfrm>
          <a:prstGeom prst="rect">
            <a:avLst/>
          </a:prstGeom>
          <a:solidFill>
            <a:srgbClr val="00D4FF">
              <a:alpha val="901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97472" y="2780000"/>
            <a:ext cx="196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Timestamped re-run logging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2377472" y="278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377472" y="278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6377472" y="2780000"/>
            <a:ext cx="24282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47472" y="3340000"/>
            <a:ext cx="8458200" cy="560000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6377472" y="3340000"/>
            <a:ext cx="2428200" cy="560000"/>
          </a:xfrm>
          <a:prstGeom prst="rect">
            <a:avLst/>
          </a:prstGeom>
          <a:solidFill>
            <a:srgbClr val="00D4FF">
              <a:alpha val="901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97472" y="3340000"/>
            <a:ext cx="196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Price / month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2377472" y="334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Free (travellers)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377472" y="3340000"/>
            <a:ext cx="20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€99–€299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6377472" y="3340000"/>
            <a:ext cx="24282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€19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47472" y="4030000"/>
            <a:ext cx="84582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TripAdvisor tells tourists where to stay. AirDNA gives raw data to large operators. BerlinHostAIQ tells </a:t>
            </a:r>
            <a:r>
              <a:rPr b="1" i="1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Emma exactly what to do next.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0" y="5121500"/>
            <a:ext cx="9144000" cy="2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0" y="5121500"/>
            <a:ext cx="3048000" cy="2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57200" y="860000"/>
            <a:ext cx="8229600" cy="220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57200" y="120000"/>
            <a:ext cx="822960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the Ranking 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57200" y="700000"/>
            <a:ext cx="82296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Comparing Emma’s listing to similar price points · Prenzlauer Berg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57200" y="1160000"/>
            <a:ext cx="8229600" cy="220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74320" y="45091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621792" y="45091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969264" y="45091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1316736" y="45091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1664208" y="45091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2011680" y="45091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2359152" y="45091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2706624" y="45091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054096" y="45091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401568" y="45091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3749040" y="45091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096512" y="4509120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274320" y="485659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21792" y="485659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969264" y="485659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1316736" y="485659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1664208" y="485659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2011680" y="485659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2359152" y="485659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2706624" y="485659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054096" y="485659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3401568" y="485659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3749040" y="485659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096512" y="4856592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274320" y="520406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21792" y="520406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969264" y="520406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1316736" y="520406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1664208" y="520406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2011680" y="520406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2359152" y="520406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2706624" y="520406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3054096" y="520406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3401568" y="520406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3749040" y="520406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096512" y="5204064"/>
            <a:ext cx="50292" cy="502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18039"/>
            </a:srgbClr>
          </a:solidFill>
          <a:ln cap="flat" cmpd="sng" w="12700">
            <a:solidFill>
              <a:srgbClr val="00D4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347472" y="1016112"/>
            <a:ext cx="4892040" cy="402336"/>
          </a:xfrm>
          <a:prstGeom prst="rect">
            <a:avLst/>
          </a:prstGeom>
          <a:solidFill>
            <a:srgbClr val="1A3A6E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438912" y="1034400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868680" y="10344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Listing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3200400" y="103440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3794760" y="103440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Reviews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4407408" y="1034400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347472" y="1418448"/>
            <a:ext cx="4892040" cy="466344"/>
          </a:xfrm>
          <a:prstGeom prst="rect">
            <a:avLst/>
          </a:prstGeom>
          <a:solidFill>
            <a:srgbClr val="0D1828"/>
          </a:solidFill>
          <a:ln cap="flat" cmpd="sng" w="12700">
            <a:solidFill>
              <a:srgbClr val="1A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438912" y="15098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868680" y="15098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Loft Mitte — City 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3200400" y="15098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€92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3794760" y="15098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138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4407408" y="150988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0.86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347472" y="1884792"/>
            <a:ext cx="4892040" cy="466344"/>
          </a:xfrm>
          <a:prstGeom prst="rect">
            <a:avLst/>
          </a:prstGeom>
          <a:solidFill>
            <a:srgbClr val="0A1420"/>
          </a:solidFill>
          <a:ln cap="flat" cmpd="sng" w="12700">
            <a:solidFill>
              <a:srgbClr val="1A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438912" y="1976232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868680" y="19762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Studio Prenzlauer Modern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3200400" y="1976232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€88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3794760" y="197623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4407408" y="1976232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0.79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347472" y="2351136"/>
            <a:ext cx="4892040" cy="466344"/>
          </a:xfrm>
          <a:prstGeom prst="rect">
            <a:avLst/>
          </a:prstGeom>
          <a:solidFill>
            <a:srgbClr val="152040"/>
          </a:solidFill>
          <a:ln cap="flat" cmpd="sng" w="12700">
            <a:solidFill>
              <a:srgbClr val="1A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438912" y="2442576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868680" y="24425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Emma's Apt · Balcony 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3200400" y="2442576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€85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3794760" y="2442576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71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4407408" y="2442576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0.74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347472" y="2817480"/>
            <a:ext cx="4892040" cy="466344"/>
          </a:xfrm>
          <a:prstGeom prst="rect">
            <a:avLst/>
          </a:prstGeom>
          <a:solidFill>
            <a:srgbClr val="0A1420"/>
          </a:solidFill>
          <a:ln cap="flat" cmpd="sng" w="12700">
            <a:solidFill>
              <a:srgbClr val="1A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438912" y="290892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868680" y="29089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Cozy Flat Prenzlauer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3200400" y="2908920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€83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3794760" y="290892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4407408" y="2908920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347472" y="3283824"/>
            <a:ext cx="4892040" cy="466344"/>
          </a:xfrm>
          <a:prstGeom prst="rect">
            <a:avLst/>
          </a:prstGeom>
          <a:solidFill>
            <a:srgbClr val="0D1828"/>
          </a:solidFill>
          <a:ln cap="flat" cmpd="sng" w="12700">
            <a:solidFill>
              <a:srgbClr val="1A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438912" y="337526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868680" y="337526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Bright Room Kollwitz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3200400" y="337526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€80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3794760" y="3375264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4407408" y="3375264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0.60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347472" y="3750168"/>
            <a:ext cx="4892040" cy="466344"/>
          </a:xfrm>
          <a:prstGeom prst="rect">
            <a:avLst/>
          </a:prstGeom>
          <a:solidFill>
            <a:srgbClr val="0A1420"/>
          </a:solidFill>
          <a:ln cap="flat" cmpd="sng" w="12700">
            <a:solidFill>
              <a:srgbClr val="1A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438912" y="38416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868680" y="38416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Budget Studio Berg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3200400" y="38416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€78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3794760" y="384160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4407408" y="384160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0.51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347472" y="4253088"/>
            <a:ext cx="4892040" cy="548640"/>
          </a:xfrm>
          <a:prstGeom prst="rect">
            <a:avLst/>
          </a:prstGeom>
          <a:solidFill>
            <a:srgbClr val="080F1E"/>
          </a:solidFill>
          <a:ln cap="flat" cmpd="sng" w="12700">
            <a:solidFill>
              <a:srgbClr val="1A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457200" y="4326240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Score = Price (40%)  +  Reviews (40%)  +  Neighbourhood demand (20%)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5394960" y="1016112"/>
            <a:ext cx="3429000" cy="1170432"/>
          </a:xfrm>
          <a:prstGeom prst="rect">
            <a:avLst/>
          </a:prstGeom>
          <a:solidFill>
            <a:srgbClr val="0D1828"/>
          </a:solidFill>
          <a:ln cap="flat" cmpd="sng" w="12700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5394960" y="1016112"/>
            <a:ext cx="45720" cy="117043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5532120" y="11075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🌿  Balcony + Garden Access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5532120" y="1455024"/>
            <a:ext cx="3200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None of Emma's 5 closest competitors have this.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BerlinHostAIQ puts it in her headline.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5394960" y="2296272"/>
            <a:ext cx="3429000" cy="1170432"/>
          </a:xfrm>
          <a:prstGeom prst="rect">
            <a:avLst/>
          </a:prstGeom>
          <a:solidFill>
            <a:srgbClr val="0D1828"/>
          </a:solidFill>
          <a:ln cap="flat" cmpd="sng" w="12700">
            <a:solidFill>
              <a:srgbClr val="FFD16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5394960" y="2296272"/>
            <a:ext cx="45720" cy="117043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5532120" y="23877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✍️  AI Description Preview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5532120" y="2735184"/>
            <a:ext cx="3200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"Wake up to your private balcony overlooking a quiet courtyard garden — a rare find in Prenzlauer Berg at this price point..."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5394960" y="3576432"/>
            <a:ext cx="3429000" cy="1170432"/>
          </a:xfrm>
          <a:prstGeom prst="rect">
            <a:avLst/>
          </a:prstGeom>
          <a:solidFill>
            <a:srgbClr val="0D1828"/>
          </a:solidFill>
          <a:ln cap="flat" cmpd="sng" w="12700">
            <a:solidFill>
              <a:srgbClr val="00E5A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5394960" y="3576432"/>
            <a:ext cx="45720" cy="1170432"/>
          </a:xfrm>
          <a:prstGeom prst="rect">
            <a:avLst/>
          </a:prstGeom>
          <a:solidFill>
            <a:srgbClr val="00E5A0"/>
          </a:solidFill>
          <a:ln cap="flat" cmpd="sng" w="12700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5532120" y="3667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🔄  Re-run in 3 months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5532120" y="4015344"/>
            <a:ext cx="3200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Compare rank evolution via LangSmith.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Did her position improve? Did the market shift?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0" y="5241500"/>
            <a:ext cx="9144000" cy="2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0" y="5241500"/>
            <a:ext cx="3810000" cy="2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"/>
          <p:cNvSpPr/>
          <p:nvPr/>
        </p:nvSpPr>
        <p:spPr>
          <a:xfrm>
            <a:off x="0" y="120000"/>
            <a:ext cx="8229600" cy="58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457200" y="120000"/>
            <a:ext cx="822960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Case — ROI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457200" y="700000"/>
            <a:ext cx="82296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Conservative estimates · validated during pilot phase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457200" y="1240000"/>
            <a:ext cx="8229600" cy="220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347472" y="1006968"/>
            <a:ext cx="1920240" cy="10789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22338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700000" dist="381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393192" y="1070976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€2,600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393192" y="16904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Upfront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2514600" y="1006968"/>
            <a:ext cx="1920240" cy="10789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DDE4F5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700000" dist="381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2514600" y="1006968"/>
            <a:ext cx="192024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2560320" y="1070976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115%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2560320" y="16904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Year 1 ROI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4681728" y="1006968"/>
            <a:ext cx="1920240" cy="10789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DDE4F5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700000" dist="381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4681728" y="1006968"/>
            <a:ext cx="192024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4727448" y="1070976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688%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4727448" y="16904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3-Year ROI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6848856" y="1006968"/>
            <a:ext cx="1920240" cy="10789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22338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700000" dist="381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6894576" y="1070976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Month 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6894576" y="16904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Break-Even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2284832"/>
            <a:ext cx="507492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7"/>
          <p:cNvSpPr/>
          <p:nvPr/>
        </p:nvSpPr>
        <p:spPr>
          <a:xfrm>
            <a:off x="5577840" y="2284832"/>
            <a:ext cx="3246120" cy="28346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22338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700000" dist="381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5742432" y="23945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Key Assumptions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5577840" y="2815184"/>
            <a:ext cx="3246120" cy="347472"/>
          </a:xfrm>
          <a:prstGeom prst="rect">
            <a:avLst/>
          </a:prstGeom>
          <a:solidFill>
            <a:srgbClr val="122338"/>
          </a:solidFill>
          <a:ln cap="flat" cmpd="sng" w="12700">
            <a:solidFill>
              <a:srgbClr val="1223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5669280" y="2870048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Pricing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6858000" y="287004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€19/month per host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5669280" y="3217520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Year 1 users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6858000" y="321752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50 paying hosts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5577840" y="3510128"/>
            <a:ext cx="3246120" cy="347472"/>
          </a:xfrm>
          <a:prstGeom prst="rect">
            <a:avLst/>
          </a:prstGeom>
          <a:solidFill>
            <a:srgbClr val="122338"/>
          </a:solidFill>
          <a:ln cap="flat" cmpd="sng" w="12700">
            <a:solidFill>
              <a:srgbClr val="1223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5669280" y="3564992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Year 3 users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6858000" y="356499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200 paying hosts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5669280" y="3912464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Time saved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6858000" y="3912464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3 hrs/month @ €25/hr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5577840" y="4205072"/>
            <a:ext cx="3246120" cy="347472"/>
          </a:xfrm>
          <a:prstGeom prst="rect">
            <a:avLst/>
          </a:prstGeom>
          <a:solidFill>
            <a:srgbClr val="122338"/>
          </a:solidFill>
          <a:ln cap="flat" cmpd="sng" w="12700">
            <a:solidFill>
              <a:srgbClr val="1223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5669280" y="4259936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Rev. uplift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6858000" y="4259936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5% occupancy increase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5669280" y="4607408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Churn 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6858000" y="460740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10% annually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347472" y="5137760"/>
            <a:ext cx="8458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Numbers are estimates — actual ROI validated during the pilot phase.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0" y="5321500"/>
            <a:ext cx="9144000" cy="2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0" y="5321500"/>
            <a:ext cx="5334000" cy="2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457200" y="120000"/>
            <a:ext cx="822960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Risks &amp; Compliance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457200" y="700000"/>
            <a:ext cx="82296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3 risks identified &amp; mitigated  ·  EU AI Act: Limited Risk  ·  GDPR: Legitimate Interest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457200" y="1040000"/>
            <a:ext cx="8229600" cy="220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4672000" y="1080000"/>
            <a:ext cx="22000" cy="39600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457200" y="1110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Risk Assessment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457200" y="1430000"/>
            <a:ext cx="4100000" cy="960000"/>
          </a:xfrm>
          <a:prstGeom prst="rect">
            <a:avLst/>
          </a:prstGeom>
          <a:solidFill>
            <a:srgbClr val="0D1F42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457200" y="1430000"/>
            <a:ext cx="50000" cy="960000"/>
          </a:xfrm>
          <a:prstGeom prst="rect">
            <a:avLst/>
          </a:prstGeom>
          <a:solidFill>
            <a:srgbClr val="FFD166">
              <a:alpha val="5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580000" y="1475000"/>
            <a:ext cx="39000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 AI Hallucinations</a:t>
            </a:r>
            <a:r>
              <a:rPr b="0" i="0" lang="en-US" sz="105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  Score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Output constrained to confirmed data. LangSmith flags low-confidence runs. UI disclaimer on every output.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457200" y="2450000"/>
            <a:ext cx="4100000" cy="960000"/>
          </a:xfrm>
          <a:prstGeom prst="rect">
            <a:avLst/>
          </a:prstGeom>
          <a:solidFill>
            <a:srgbClr val="0D1F42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457200" y="2450000"/>
            <a:ext cx="50000" cy="960000"/>
          </a:xfrm>
          <a:prstGeom prst="rect">
            <a:avLst/>
          </a:prstGeom>
          <a:solidFill>
            <a:srgbClr val="FFD166">
              <a:alpha val="5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580000" y="2495000"/>
            <a:ext cx="39000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 Low User Adoption</a:t>
            </a:r>
            <a:r>
              <a:rPr b="0" i="0" lang="en-US" sz="105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  Score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Streamlit UI, 3 free trial analyses. Example outputs at sign-up. Progressive trust loop.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457200" y="3470000"/>
            <a:ext cx="4100000" cy="960000"/>
          </a:xfrm>
          <a:prstGeom prst="rect">
            <a:avLst/>
          </a:prstGeom>
          <a:solidFill>
            <a:srgbClr val="0D1F42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457200" y="3470000"/>
            <a:ext cx="50000" cy="960000"/>
          </a:xfrm>
          <a:prstGeom prst="rect">
            <a:avLst/>
          </a:prstGeom>
          <a:solidFill>
            <a:srgbClr val="FFD166">
              <a:alpha val="5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580000" y="3515000"/>
            <a:ext cx="39000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 Data Staleness</a:t>
            </a:r>
            <a:r>
              <a:rPr b="0" i="0" lang="en-US" sz="105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  Score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Automated monthly refresh. Dataset age in UI. Alert when data exceeds 60 days.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4800000" y="111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4800000" y="1430000"/>
            <a:ext cx="4200000" cy="1240000"/>
          </a:xfrm>
          <a:prstGeom prst="rect">
            <a:avLst/>
          </a:prstGeom>
          <a:solidFill>
            <a:srgbClr val="0D1F42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4800000" y="1430000"/>
            <a:ext cx="50000" cy="1240000"/>
          </a:xfrm>
          <a:prstGeom prst="rect">
            <a:avLst/>
          </a:prstGeom>
          <a:solidFill>
            <a:srgbClr val="00D4FF">
              <a:alpha val="5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4920000" y="1475000"/>
            <a:ext cx="40200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EU AI Act — </a:t>
            </a:r>
            <a:r>
              <a:rPr b="1" i="0" lang="en-US" sz="12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LIMITED RISK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Not prohibited, not high-risk. Art. 50 transparency: UI label on every AI output — “AI-generated. Review before publishing.”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4800000" y="2730000"/>
            <a:ext cx="4200000" cy="1240000"/>
          </a:xfrm>
          <a:prstGeom prst="rect">
            <a:avLst/>
          </a:prstGeom>
          <a:solidFill>
            <a:srgbClr val="0D1F42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4800000" y="2730000"/>
            <a:ext cx="50000" cy="1240000"/>
          </a:xfrm>
          <a:prstGeom prst="rect">
            <a:avLst/>
          </a:prstGeom>
          <a:solidFill>
            <a:srgbClr val="00D4FF">
              <a:alpha val="5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4920000" y="2775000"/>
            <a:ext cx="40200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GDPR — Legitimate Interest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Public listing data only — no PII. Art. 6(1)(f). OpenAI + LangSmith: DPA + SCCs in place. DPIA residual risk: LOW.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4800000" y="4030000"/>
            <a:ext cx="4200000" cy="800000"/>
          </a:xfrm>
          <a:prstGeom prst="rect">
            <a:avLst/>
          </a:prstGeom>
          <a:solidFill>
            <a:srgbClr val="0D1F42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4800000" y="4030000"/>
            <a:ext cx="50000" cy="800000"/>
          </a:xfrm>
          <a:prstGeom prst="rect">
            <a:avLst/>
          </a:prstGeom>
          <a:solidFill>
            <a:srgbClr val="FFD166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4920000" y="4075000"/>
            <a:ext cx="4020000" cy="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Identified gaps — resolution plan ready before production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A8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6B7FA8"/>
                </a:solidFill>
                <a:latin typeface="Calibri"/>
                <a:ea typeface="Calibri"/>
                <a:cs typeface="Calibri"/>
                <a:sym typeface="Calibri"/>
              </a:rPr>
              <a:t>Draft Terms of Use  ·  LangSmith opt-out toggle  ·  Formalise OpenAI DPA before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0" y="5121500"/>
            <a:ext cx="9144000" cy="2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0" y="5121500"/>
            <a:ext cx="6096000" cy="2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9"/>
          <p:cNvSpPr/>
          <p:nvPr/>
        </p:nvSpPr>
        <p:spPr>
          <a:xfrm>
            <a:off x="0" y="120000"/>
            <a:ext cx="8229600" cy="58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457200" y="120000"/>
            <a:ext cx="8229600" cy="58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502920" y="140000"/>
            <a:ext cx="82296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Strategic Deployment Plan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457200" y="730000"/>
            <a:ext cx="82296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POC → Pilot → Full Deployment →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822960" y="1316736"/>
            <a:ext cx="7589520" cy="36576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347472" y="969264"/>
            <a:ext cx="1920240" cy="69494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347472" y="969264"/>
            <a:ext cx="19202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POC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1216152" y="1664208"/>
            <a:ext cx="164592" cy="3200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347472" y="1984248"/>
            <a:ext cx="1920240" cy="98755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22338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700000" dist="381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420624" y="2048256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Weeks 1–2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420624" y="2322576"/>
            <a:ext cx="177393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Working agent · ranking · LangSmith logging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2542032" y="969264"/>
            <a:ext cx="1920240" cy="69494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2542032" y="969264"/>
            <a:ext cx="19202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Pilot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3410712" y="1664208"/>
            <a:ext cx="164592" cy="3200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2542032" y="1984248"/>
            <a:ext cx="1920240" cy="98755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22338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700000" dist="381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2615184" y="2048256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Months 1–3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2615184" y="2322576"/>
            <a:ext cx="177393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10–20 Berlin hosts · Streamlit UI · Feedback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4736592" y="969264"/>
            <a:ext cx="1920240" cy="6949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4736592" y="969264"/>
            <a:ext cx="19202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Full Deploy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5605272" y="1664208"/>
            <a:ext cx="164592" cy="3200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4736592" y="1984248"/>
            <a:ext cx="1920240" cy="987552"/>
          </a:xfrm>
          <a:prstGeom prst="rect">
            <a:avLst/>
          </a:prstGeom>
          <a:solidFill>
            <a:srgbClr val="122338"/>
          </a:solidFill>
          <a:ln cap="flat" cmpd="sng" w="12700">
            <a:solidFill>
              <a:srgbClr val="122338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700000" dist="381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4809744" y="2048256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Months 4–12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4809744" y="2322576"/>
            <a:ext cx="177393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50 paying subscribers · €19/mo · €11,400 ARR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6931152" y="969264"/>
            <a:ext cx="1920240" cy="69494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6931152" y="969264"/>
            <a:ext cx="19202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7799832" y="1664208"/>
            <a:ext cx="164592" cy="3200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6931152" y="1984248"/>
            <a:ext cx="1920240" cy="98755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22338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700000" dist="381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7004304" y="2048256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Year 2–3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7004304" y="2322576"/>
            <a:ext cx="177393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200 subscribers · 3+ cities · White-label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347472" y="3090672"/>
            <a:ext cx="4160520" cy="182880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22338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700000" dist="381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530352" y="318211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Go-to-Market Strategy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530352" y="356616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→  Value prop: AI insights + re-run logging — no competitor offers this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530352" y="388620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→  Channel: Airbnb communities, content marketing, referral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530352" y="42062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→  Pricing: Free → Pro €19/mo → Manager €49/mo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530352" y="45262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→  Model: B2C SaaS — self-serve, low CAC, recurring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4663440" y="3090672"/>
            <a:ext cx="4160520" cy="182880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22338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700000" dist="38100">
              <a:srgbClr val="000000">
                <a:alpha val="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4846320" y="318211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Pilot Greenlight Criteria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4846320" y="35661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User satisfaction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7452360" y="3575304"/>
            <a:ext cx="1188720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7452360" y="3575304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≥ 4 /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4846320" y="388620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Hallucination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7452360" y="3895344"/>
            <a:ext cx="1188720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7452360" y="3895344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&lt; 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4846320" y="42062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Hosts updated listing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9"/>
          <p:cNvSpPr/>
          <p:nvPr/>
        </p:nvSpPr>
        <p:spPr>
          <a:xfrm>
            <a:off x="7452360" y="4215384"/>
            <a:ext cx="1188720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7452360" y="4215384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≥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4846320" y="452628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Break-even confirmed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7452360" y="4535424"/>
            <a:ext cx="1188720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7452360" y="4535424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Month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0" y="5121500"/>
            <a:ext cx="9144000" cy="2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0" y="5121500"/>
            <a:ext cx="7620000" cy="2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457200" y="950000"/>
            <a:ext cx="8229600" cy="220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0"/>
          <p:cNvSpPr/>
          <p:nvPr/>
        </p:nvSpPr>
        <p:spPr>
          <a:xfrm>
            <a:off x="0" y="120000"/>
            <a:ext cx="8229600" cy="58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457200" y="120000"/>
            <a:ext cx="822960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MVP — Stretch Deliverable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457200" y="700000"/>
            <a:ext cx="82296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From POC to a deployable Python + Streamlit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457200" y="1160000"/>
            <a:ext cx="8229600" cy="220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347472" y="1089264"/>
            <a:ext cx="2377440" cy="365760"/>
          </a:xfrm>
          <a:prstGeom prst="rect">
            <a:avLst/>
          </a:prstGeom>
          <a:solidFill>
            <a:srgbClr val="0D1E35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347472" y="108926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2724912" y="1089264"/>
            <a:ext cx="2926080" cy="3657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0"/>
          <p:cNvSpPr/>
          <p:nvPr/>
        </p:nvSpPr>
        <p:spPr>
          <a:xfrm>
            <a:off x="2724912" y="1089264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POC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/>
          <p:nvPr/>
        </p:nvSpPr>
        <p:spPr>
          <a:xfrm>
            <a:off x="5650992" y="1089264"/>
            <a:ext cx="3154680" cy="365760"/>
          </a:xfrm>
          <a:prstGeom prst="rect">
            <a:avLst/>
          </a:prstGeom>
          <a:solidFill>
            <a:srgbClr val="0D1E35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5650992" y="108926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MVP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347472" y="1455024"/>
            <a:ext cx="8458200" cy="429768"/>
          </a:xfrm>
          <a:prstGeom prst="rect">
            <a:avLst/>
          </a:prstGeom>
          <a:solidFill>
            <a:srgbClr val="122338"/>
          </a:solidFill>
          <a:ln cap="flat" cmpd="sng" w="12700">
            <a:solidFill>
              <a:srgbClr val="DDE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438912" y="152817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2816352" y="152817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n8n only (no UI)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/>
          <p:nvPr/>
        </p:nvSpPr>
        <p:spPr>
          <a:xfrm>
            <a:off x="5742432" y="1528176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Interactive Streamlit web app · Dark UI · EN/IT/DE multilanguage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347472" y="1884792"/>
            <a:ext cx="8458200" cy="429768"/>
          </a:xfrm>
          <a:prstGeom prst="rect">
            <a:avLst/>
          </a:prstGeom>
          <a:solidFill>
            <a:srgbClr val="0D1E3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438912" y="19579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Data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2816352" y="195794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20 rows (hardcoded)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5742432" y="195794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9,264 listings (full Berlin dataset)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0"/>
          <p:cNvSpPr/>
          <p:nvPr/>
        </p:nvSpPr>
        <p:spPr>
          <a:xfrm>
            <a:off x="347472" y="2314560"/>
            <a:ext cx="8458200" cy="429768"/>
          </a:xfrm>
          <a:prstGeom prst="rect">
            <a:avLst/>
          </a:prstGeom>
          <a:solidFill>
            <a:srgbClr val="122338"/>
          </a:solidFill>
          <a:ln cap="flat" cmpd="sng" w="12700">
            <a:solidFill>
              <a:srgbClr val="DDE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0"/>
          <p:cNvSpPr/>
          <p:nvPr/>
        </p:nvSpPr>
        <p:spPr>
          <a:xfrm>
            <a:off x="438912" y="238771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Ranking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2816352" y="23877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None — raw data to 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5742432" y="238771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Composite score per listing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347472" y="2744328"/>
            <a:ext cx="8458200" cy="429768"/>
          </a:xfrm>
          <a:prstGeom prst="rect">
            <a:avLst/>
          </a:prstGeom>
          <a:solidFill>
            <a:srgbClr val="0D1E3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/>
          <p:nvPr/>
        </p:nvSpPr>
        <p:spPr>
          <a:xfrm>
            <a:off x="438912" y="28174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KPI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2816352" y="2817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5742432" y="281748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4 KPIs · neighbourhood bubble map · price chart · Analyse My Listing 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347472" y="3174096"/>
            <a:ext cx="8458200" cy="429768"/>
          </a:xfrm>
          <a:prstGeom prst="rect">
            <a:avLst/>
          </a:prstGeom>
          <a:solidFill>
            <a:srgbClr val="122338"/>
          </a:solidFill>
          <a:ln cap="flat" cmpd="sng" w="12700">
            <a:solidFill>
              <a:srgbClr val="DDE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438912" y="324724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Error handling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2816352" y="32472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Minimal try/except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5742432" y="32472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Graceful failures on all external calls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347472" y="3603864"/>
            <a:ext cx="8458200" cy="429768"/>
          </a:xfrm>
          <a:prstGeom prst="rect">
            <a:avLst/>
          </a:prstGeom>
          <a:solidFill>
            <a:srgbClr val="0D1E35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438912" y="367701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Observability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2816352" y="367701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Basic LangSmith trace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5742432" y="3677016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Versioned dataset + full trace per run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347472" y="4070208"/>
            <a:ext cx="8458200" cy="804672"/>
          </a:xfrm>
          <a:prstGeom prst="rect">
            <a:avLst/>
          </a:prstGeom>
          <a:solidFill>
            <a:srgbClr val="0D1E35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530352" y="4125072"/>
            <a:ext cx="81381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A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AF8"/>
                </a:solidFill>
                <a:latin typeface="Calibri"/>
                <a:ea typeface="Calibri"/>
                <a:cs typeface="Calibri"/>
                <a:sym typeface="Calibri"/>
              </a:rPr>
              <a:t>All 7 success criteria met: working application · AI capability demonstrated · graceful error handling · full documentation · GitHub repo · no hardcoded API keys · Live at berlinhostaiq.streamlit.app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0" y="5241500"/>
            <a:ext cx="9144000" cy="2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0" y="5241500"/>
            <a:ext cx="8382000" cy="2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457200" y="10000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Opportunity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457200" y="730000"/>
            <a:ext cx="82296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14,000+ hosts · €876/year uplift · re-run logging: the edge no competitor has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1"/>
          <p:cNvSpPr/>
          <p:nvPr/>
        </p:nvSpPr>
        <p:spPr>
          <a:xfrm>
            <a:off x="457200" y="1040000"/>
            <a:ext cx="8229600" cy="220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457200" y="1100000"/>
            <a:ext cx="8229600" cy="680000"/>
          </a:xfrm>
          <a:prstGeom prst="rect">
            <a:avLst/>
          </a:prstGeom>
          <a:solidFill>
            <a:srgbClr val="0D1F42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457200" y="1100000"/>
            <a:ext cx="50000" cy="680000"/>
          </a:xfrm>
          <a:prstGeom prst="rect">
            <a:avLst/>
          </a:prstGeom>
          <a:solidFill>
            <a:srgbClr val="FFD166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580000" y="1130000"/>
            <a:ext cx="26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14,000+ Berlin hosts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3300000" y="1130000"/>
            <a:ext cx="53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managing listings without AI insights — Emma is not the exception, she’s the rule.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457200" y="1830000"/>
            <a:ext cx="8229600" cy="680000"/>
          </a:xfrm>
          <a:prstGeom prst="rect">
            <a:avLst/>
          </a:prstGeom>
          <a:solidFill>
            <a:srgbClr val="0D1F42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457200" y="1830000"/>
            <a:ext cx="50000" cy="680000"/>
          </a:xfrm>
          <a:prstGeom prst="rect">
            <a:avLst/>
          </a:prstGeom>
          <a:solidFill>
            <a:srgbClr val="00D4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580000" y="1860000"/>
            <a:ext cx="26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€876/year uplift per 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3300000" y="1860000"/>
            <a:ext cx="53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conservative 5% revenue increase from better positioning + 3 hrs/month saved. 115% ROI in Year 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457200" y="2560000"/>
            <a:ext cx="8229600" cy="680000"/>
          </a:xfrm>
          <a:prstGeom prst="rect">
            <a:avLst/>
          </a:prstGeom>
          <a:solidFill>
            <a:srgbClr val="0D1F42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457200" y="2560000"/>
            <a:ext cx="50000" cy="680000"/>
          </a:xfrm>
          <a:prstGeom prst="rect">
            <a:avLst/>
          </a:prstGeom>
          <a:solidFill>
            <a:srgbClr val="FFD166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580000" y="2590000"/>
            <a:ext cx="26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Re-run &amp; logging: the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3300000" y="2590000"/>
            <a:ext cx="53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no competitor offers timestamped ranking history. Hosts track their competitive position over 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457200" y="3290000"/>
            <a:ext cx="8229600" cy="680000"/>
          </a:xfrm>
          <a:prstGeom prst="rect">
            <a:avLst/>
          </a:prstGeom>
          <a:solidFill>
            <a:srgbClr val="0D1F42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457200" y="3290000"/>
            <a:ext cx="50000" cy="680000"/>
          </a:xfrm>
          <a:prstGeom prst="rect">
            <a:avLst/>
          </a:prstGeom>
          <a:solidFill>
            <a:srgbClr val="00D4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1"/>
          <p:cNvSpPr/>
          <p:nvPr/>
        </p:nvSpPr>
        <p:spPr>
          <a:xfrm>
            <a:off x="580000" y="3320000"/>
            <a:ext cx="26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Next: 60-day pilot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1"/>
          <p:cNvSpPr/>
          <p:nvPr/>
        </p:nvSpPr>
        <p:spPr>
          <a:xfrm>
            <a:off x="3300000" y="3320000"/>
            <a:ext cx="53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10–20 Berlin hosts · validate ROI assumptions · greenlight full SaaS deployment at €19/month.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1"/>
          <p:cNvSpPr/>
          <p:nvPr/>
        </p:nvSpPr>
        <p:spPr>
          <a:xfrm>
            <a:off x="457200" y="4020000"/>
            <a:ext cx="8229600" cy="680000"/>
          </a:xfrm>
          <a:prstGeom prst="rect">
            <a:avLst/>
          </a:prstGeom>
          <a:solidFill>
            <a:srgbClr val="0D1F42"/>
          </a:solidFill>
          <a:ln cap="flat" cmpd="sng" w="12700">
            <a:solidFill>
              <a:srgbClr val="1A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1"/>
          <p:cNvSpPr/>
          <p:nvPr/>
        </p:nvSpPr>
        <p:spPr>
          <a:xfrm>
            <a:off x="457200" y="4020000"/>
            <a:ext cx="50000" cy="680000"/>
          </a:xfrm>
          <a:prstGeom prst="rect">
            <a:avLst/>
          </a:prstGeom>
          <a:solidFill>
            <a:srgbClr val="FFD166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580000" y="4050000"/>
            <a:ext cx="26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Compliance: deployment-ready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1"/>
          <p:cNvSpPr/>
          <p:nvPr/>
        </p:nvSpPr>
        <p:spPr>
          <a:xfrm>
            <a:off x="3300000" y="4050000"/>
            <a:ext cx="53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EU AI Act: Limited Risk · GDPR: legitimate interest · gaps identified with resolution plan.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1"/>
          <p:cNvSpPr/>
          <p:nvPr/>
        </p:nvSpPr>
        <p:spPr>
          <a:xfrm>
            <a:off x="457200" y="4800000"/>
            <a:ext cx="82296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0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5070"/>
                </a:solidFill>
                <a:latin typeface="Calibri"/>
                <a:ea typeface="Calibri"/>
                <a:cs typeface="Calibri"/>
                <a:sym typeface="Calibri"/>
              </a:rPr>
              <a:t>Antonio Ciraci  ·  BerlinHostAIQ  ·  AI Bootcamp Final Project  ·  March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1"/>
          <p:cNvSpPr/>
          <p:nvPr/>
        </p:nvSpPr>
        <p:spPr>
          <a:xfrm>
            <a:off x="0" y="5121500"/>
            <a:ext cx="9144000" cy="2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1"/>
          <p:cNvSpPr/>
          <p:nvPr/>
        </p:nvSpPr>
        <p:spPr>
          <a:xfrm>
            <a:off x="0" y="5121500"/>
            <a:ext cx="9144000" cy="2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0A1628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0A1628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